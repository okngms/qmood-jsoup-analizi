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8F2B11-1E4E-7D6B-E7B2-9A8C29D6966A}" v="18" dt="2026-06-18T16:15:33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84F42-D953-49C4-95E7-833E41C86C09}" type="datetimeFigureOut">
              <a:t>18.06.2026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6B838-FA6C-4C94-96B2-14DF58B364FE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166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Kısa giriş: jsoup'un 10 sürümünü QMOOD ile inceleyip tasarım kalitesinin nasıl değiştiğini ve 4 LLM'in bunu nasıl yorumladığını anlatacağım. ~10 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Yazılım evrimi kaliteyi aşındırır; biz bunu jsoup'ta QMOOD ile ölçtük ve LLM yorumlarıyla kıyasladık.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jsoup'u kısaca tanıt: HTML ayrıştıran bir Java kütüphanesi; web kazıma, veri çıkarma ve güvenli HTML temizleme gibi işlerde kullanılıyor. Olgun ve çok sürümlü olduğu için evrim çalışmasına uygun.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araç: CK (kaynak kod). QMOOD nitelikleri formülle bizim hesabımız. 4 metrik yaklaşık — bunu raporda da belirttik.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Boyut/bağlaşım/karmaşıklık yukarı; kohezyon/kapsülleme aşağı. Bağlaşım↑ + kohezyon↓ birlikte = mimari bozulma örüntüsü.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Bazı nitelikler yükseliyor (işlevsellik, yeniden kullanılabilirlik) ama anlaşılabilirlik belirgin düşüyor. Neden yükseliyorlar? Sıradaki slayt.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Kilit mesaj: TQI'deki artış gerçek bir iyileşme değil, boyutsal büyümenin yan ürünü. Asıl bakım göstergeleri bozuluyor.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model aynı veriyle. Anlaşılabilirlik↓ ve işlevsellik↑'te uzlaşma. Reusability'de ayrışma yöntemsel: sezgisel vs formül. Güvenilirlik notları: Gemini kısmi veri, DeepSeek metrik hatası.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cümlelik kapanış: büyüme + teknik borç, QMOOD'un boyut duyarlılığı, LLM'lerin tamamlayıcı rolü. Soruları 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457200"/>
            <a:ext cx="1645920" cy="164592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548640"/>
            <a:ext cx="914400" cy="914400"/>
          </a:xfrm>
          <a:prstGeom prst="ellipse">
            <a:avLst/>
          </a:prstGeom>
          <a:solidFill>
            <a:srgbClr val="00A89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 Kaynak Yazılımda QMOOD Tabanlı Tasarım Kalitesinin Sürüm Bazlı Evrimi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jsoup Üzerine Bir Durum Çalışması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73152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Okan GÜMÜŞ ·  255129043</a:t>
            </a:r>
            <a:endParaRPr lang="en-US" sz="1400"/>
          </a:p>
          <a:p>
            <a:pPr marL="0" indent="0">
              <a:buNone/>
            </a:pPr>
            <a:r>
              <a:rPr lang="en-US" sz="1200" dirty="0" err="1">
                <a:solidFill>
                  <a:srgbClr val="A9B6C8"/>
                </a:solidFill>
                <a:latin typeface="Calibri"/>
                <a:ea typeface="Calibri"/>
                <a:cs typeface="Calibri"/>
              </a:rPr>
              <a:t>Yazılım</a:t>
            </a:r>
            <a:r>
              <a:rPr lang="en-US" sz="1200" dirty="0">
                <a:solidFill>
                  <a:srgbClr val="A9B6C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A9B6C8"/>
                </a:solidFill>
                <a:latin typeface="Calibri"/>
                <a:ea typeface="Calibri"/>
                <a:cs typeface="Calibri"/>
              </a:rPr>
              <a:t>Mimarisi</a:t>
            </a:r>
            <a:r>
              <a:rPr lang="en-US" sz="1200" dirty="0">
                <a:solidFill>
                  <a:srgbClr val="A9B6C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A9B6C8"/>
                </a:solidFill>
                <a:latin typeface="Calibri"/>
                <a:ea typeface="Calibri"/>
                <a:cs typeface="Calibri"/>
              </a:rPr>
              <a:t>ve</a:t>
            </a:r>
            <a:r>
              <a:rPr lang="en-US" sz="1200" dirty="0">
                <a:solidFill>
                  <a:srgbClr val="A9B6C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A9B6C8"/>
                </a:solidFill>
                <a:latin typeface="Calibri"/>
                <a:ea typeface="Calibri"/>
                <a:cs typeface="Calibri"/>
              </a:rPr>
              <a:t>Tasarım</a:t>
            </a:r>
            <a:r>
              <a:rPr lang="en-US" sz="1200" dirty="0">
                <a:solidFill>
                  <a:srgbClr val="A9B6C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A9B6C8"/>
                </a:solidFill>
                <a:latin typeface="Calibri"/>
                <a:ea typeface="Calibri"/>
                <a:cs typeface="Calibri"/>
              </a:rPr>
              <a:t>Yöntemleri</a:t>
            </a:r>
            <a:endParaRPr lang="en-US" sz="140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Amaç ve Yaklaşım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sürekli değişir; her değişimle karmaşıklık artar, özel çaba harcanmazsa kalite geriler (Lehman).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zamanla aşınır — “yazılım yaşlanması” (Parnas).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kaliteyi sürümler boyunca nesnel ölçmek gerekir.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yaptık?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18745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jsoup'un 10 ardışık sürümünü (1.13.1 → 1.22.1) seçtik.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koddan CK aracıyla tasarım metriklerini çıkardık.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QMOOD ile 6 kalite niteliği ve TQI'yi hesapladık.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Sonuçları 4 büyük dil modeliyle karşılaştırdık.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İnceleme Nesnesi: jsoup Nedir?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jsoup, 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HTML belgeleriyle çalışmak için kullanılan açık kaynaklı (MIT lisanslı) bir Java kütüphanesidir.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977640" cy="2395728"/>
          </a:xfrm>
          <a:prstGeom prst="roundRect">
            <a:avLst>
              <a:gd name="adj" fmla="val 3053"/>
            </a:avLst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27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işe yarar?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3474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dosya veya metinden HTML'i ayrıştırır ve DOM ağacı kurar.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seçicileri ve DOM gezinmesiyle veri bulur/çıkarır.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Zararlı kullanıcı HTML'ini güvenli listeye göre temizler (XSS önleme).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öğelerini, metni ve nitelikleri düzenler/üretir.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481328"/>
            <a:ext cx="3977640" cy="2395728"/>
          </a:xfrm>
          <a:prstGeom prst="roundRect">
            <a:avLst>
              <a:gd name="adj" fmla="val 3053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627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Nerede kullanılır?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2029968"/>
            <a:ext cx="3474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kazıma (web scraping) ve veriden bilgi çıkarma.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girdisi HTML'inin güvenli biçimde temizlenmesi.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içerik düzenleme ve dönüştürme.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 otomasyon araçlarında HTML işleme.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112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15137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Örnek:  </a:t>
            </a:r>
            <a:r>
              <a:rPr lang="en-US" sz="1200" dirty="0">
                <a:solidFill>
                  <a:srgbClr val="DD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doc = Jsoup.parse(html);  Elements links = doc.select("a[href]");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seçildi: saf nesne yönelimli, olgun, çok sayıda sürümü olan açık kaynak Java projesi — sürüm bazlı evrim çalışmasına uygun.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8745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jsoup sürümü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1.13.1 → 1.22.1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13432" y="1554480"/>
            <a:ext cx="4480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7B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554480"/>
            <a:ext cx="18745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 aracı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düzeyi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metrikleri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9432" y="1554480"/>
            <a:ext cx="4480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7B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554480"/>
            <a:ext cx="18745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QMOOD tasarım</a:t>
            </a:r>
            <a:endParaRPr lang="en-US" sz="140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özellik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(boyut, bağlaşım…)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85432" y="1554480"/>
            <a:ext cx="4480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7B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0" y="155448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554480"/>
            <a:ext cx="18745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 nitelikleri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nitelik + TQI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(normalize)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</a:t>
            </a: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tasarım özelliğinin 7'si CK'dan doğrudan elde edildi; 4'ü (CAM, MOA, MFA, NOP) yaklaşık hesaplandı. Tüm özellikler baz sürüme (1.13.1) göre normalize edildi. Hazır kalite skoru kullanılmadı; her şey ham metrikten hesaplandı.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Tasarım Metrikleri: Teknik Borç Belirtileri</a:t>
            </a:r>
            <a:endParaRPr lang="en-US" sz="2600" dirty="0"/>
          </a:p>
        </p:txBody>
      </p:sp>
      <p:pic>
        <p:nvPicPr>
          <p:cNvPr id="4" name="Image 0" descr="06_teknik_borc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25880"/>
            <a:ext cx="466344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924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1.13.1 → 1.22.1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492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— tasarım boyutu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26680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+19,8%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49240" y="21579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DCC — bağlaşım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26680" y="21579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+14,7%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349240" y="2670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— karmaşıklık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26680" y="26700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+18,8%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49240" y="3182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— kohezyon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26680" y="31821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−7,7%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349240" y="36941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— kapsülleme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26680" y="36941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−13,1%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49240" y="41605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Bağlaşım/karmaşıklık artarken kohezyon ve kapsülleme geriliyor: klasik mimari bozulma.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QMOOD Kalite Nitelikleri</a:t>
            </a:r>
            <a:endParaRPr lang="en-US" sz="2600" dirty="0"/>
          </a:p>
        </p:txBody>
      </p:sp>
      <p:pic>
        <p:nvPicPr>
          <p:cNvPr id="4" name="Image 0" descr="01_kalite_nitelik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80160"/>
            <a:ext cx="5943600" cy="31912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371600"/>
            <a:ext cx="2194560" cy="2926080"/>
          </a:xfrm>
          <a:prstGeom prst="roundRect">
            <a:avLst>
              <a:gd name="adj" fmla="val 3333"/>
            </a:avLst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20840" y="1554480"/>
            <a:ext cx="1874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çıkanlar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İşlevsellik  +%32,6 ↑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Kul. +%12,8 ↑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Esneklik  +%11,8 ↑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Anlaşılabilirlik  ≈ −%30 ↓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Bulgu: Yükselen TQI Yanıltıcı</a:t>
            </a:r>
            <a:endParaRPr lang="en-US" sz="2600" dirty="0"/>
          </a:p>
        </p:txBody>
      </p:sp>
      <p:pic>
        <p:nvPicPr>
          <p:cNvPr id="4" name="Image 0" descr="02_tq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51206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3840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TQI: 4,01 → 4,36  (+%8,7)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1371600"/>
            <a:ext cx="2971800" cy="310896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155448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TQI yükseliyor — ama neden?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Artış, boyut bağımlı terimlerden (DSC, CIS) kaynaklanıyor; kod tabanı büyüdükçe bu nitelikler mekanik olarak yükseliyor.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bakım göstergeleri (kapsülleme, kohezyon, anlaşılabilirlik) ise geriliyor.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Teknik borç birikimi; en yoğun 1.17.1–1.20.1.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Destekli Değerlendirme (4 Model)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5623560" cy="914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4.6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Yeniden Kul.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Esneklik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Hafif az.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Durağan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Hafif art.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Anlaşılabilirlik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İşlevsellik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Genişletileb.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Durağan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Hafif art.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Kararsız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Durağan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Etkinlik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Hafif art.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Durağan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Azalıyor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A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Durağan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32588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EAF1F8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1481328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Gözlemler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Ortak: anlaşılabilirlik ↓, işlevsellik ↑.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Ayrışma: Yeniden Kul. — QMOOD ve Sonnet “artıyor”, diğerleri “azalıyor”.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QMOOD'u sayısal uyguladı; diğerleri sezgisel yorumladı.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yalnızca 4 sürüm okudu; DeepSeek MOA'yı CAM ile karıştırdı.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023360"/>
            <a:ext cx="1463040" cy="14630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jsoup işlevsel olarak büyürken iç tasarım kalitesi geriledi; teknik borç en yoğun 1.17.1–1.20.1 arasında birikti.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3172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QMOOD boyut duyarlıdır: TQI'deki artış gerçek bir bakım iyileşmesi değil, boyutsal büyümenin yan ürünüdür.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29184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LLM'ler QMOOD'u tamamladı: sezgisel modeller gerçek bozulmayı yakaladı, formülü sayısal uygulayan model QMOOD ile örtüştü.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 — Sorular?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Ekran Gösterisi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0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QMOOD jsoup Sunum</dc:title>
  <dc:subject>PptxGenJS Presentation</dc:subject>
  <dc:creator>QMOOD jsoup</dc:creator>
  <cp:lastModifiedBy>QMOOD jsoup</cp:lastModifiedBy>
  <cp:revision>5</cp:revision>
  <dcterms:created xsi:type="dcterms:W3CDTF">2026-06-18T11:42:10Z</dcterms:created>
  <dcterms:modified xsi:type="dcterms:W3CDTF">2026-06-18T16:15:48Z</dcterms:modified>
</cp:coreProperties>
</file>