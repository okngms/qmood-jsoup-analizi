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Kısa giriş: jsoup'un 10 sürümünü QMOOD ile inceleyip tasarım kalitesinin nasıl değiştiğini ve 4 LLM'in bunu nasıl yorumladığını anlatacağım. ~10 dk.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Yazılım evrimi kaliteyi aşındırır; biz bunu jsoup'ta QMOOD ile ölçtük ve LLM yorumlarıyla kıyasladık.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jsoup'u kısaca tanıt: HTML ayrıştıran bir Java kütüphanesi; web kazıma, veri çıkarma ve güvenli HTML temizleme gibi işlerde kullanılıyor. Olgun ve çok sürümlü olduğu için evrim çalışmasına uygun.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Tek araç: CK (kaynak kod). QMOOD nitelikleri formülle bizim hesabımız. 4 metrik yaklaşık — bunu raporda da belirttik.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Boyut/bağlaşım/karmaşıklık yukarı; kohezyon/kapsülleme aşağı. Bağlaşım↑ + kohezyon↓ birlikte = mimari bozulma örüntüsü.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Bazı nitelikler yükseliyor (işlevsellik, yeniden kullanılabilirlik) ama anlaşılabilirlik belirgin düşüyor. Neden yükseliyorlar? Sıradaki slayt.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Kilit mesaj: TQI'deki artış gerçek bir iyileşme değil, boyutsal büyümenin yan ürünü. Asıl bakım göstergeleri bozuluyor.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model aynı veriyle. Anlaşılabilirlik↓ ve işlevsellik↑'te uzlaşma. Reusability'de ayrışma yöntemsel: sezgisel vs formül. Güvenilirlik notları: Gemini kısmi veri, DeepSeek metrik hatası.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Üç cümlelik kapanış: büyüme + teknik borç, QMOOD'un boyut duyarlılığı, LLM'lerin tamamlayıcı rolü. Soruları 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457200"/>
            <a:ext cx="1645920" cy="164592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548640"/>
            <a:ext cx="914400" cy="914400"/>
          </a:xfrm>
          <a:prstGeom prst="ellipse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7863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Açık Kaynak Yazılımda QMOOD Tabanlı Tasarım Kalitesinin Sürüm Bazlı Evrimi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9718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FD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jsoup Üzerine Bir Durum Çalışması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40690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[Ad Soyad]  ·  [Öğrenci No]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A9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 Mimarisi ve Tasarım Yöntemleri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16459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9260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Amaç ve Yaklaşım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3977640" cy="3291840"/>
          </a:xfrm>
          <a:prstGeom prst="roundRect">
            <a:avLst>
              <a:gd name="adj" fmla="val 2222"/>
            </a:avLst>
          </a:prstGeom>
          <a:solidFill>
            <a:srgbClr val="EAF1F8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417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Neden?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34747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 sürekli değişir; her değişimle karmaşıklık artar, özel çaba harcanmazsa kalite geriler (Lehman).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Tasarım zamanla aşınır — “yazılım yaşlanması” (Parnas).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yüzden kaliteyi sürümler boyunca nesnel ölçmek gerekir.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09160" y="1234440"/>
            <a:ext cx="3977640" cy="3291840"/>
          </a:xfrm>
          <a:prstGeom prst="roundRect">
            <a:avLst>
              <a:gd name="adj" fmla="val 222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83480" y="1417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 yaptık?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983480" y="1874520"/>
            <a:ext cx="34747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jsoup'un 10 ardışık sürümünü (1.13.1 → 1.22.1) seçtik.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 koddan CK aracıyla tasarım metriklerini çıkardık.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QMOOD ile 6 kalite niteliği ve TQI'yi hesapladık.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Sonuçları 4 büyük dil modeliyle karşılaştırdık.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16459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9260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İnceleme Nesnesi: jsoup Nedir?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960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jsoup,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dünya HTML belgeleriyle çalışmak için kullanılan açık kaynaklı (MIT lisanslı) bir Java kütüphanesidir.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81328"/>
            <a:ext cx="3977640" cy="2395728"/>
          </a:xfrm>
          <a:prstGeom prst="roundRect">
            <a:avLst>
              <a:gd name="adj" fmla="val 3053"/>
            </a:avLst>
          </a:prstGeom>
          <a:solidFill>
            <a:srgbClr val="EAF1F8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62763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 işe yarar?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029968"/>
            <a:ext cx="347472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URL, dosya veya metinden HTML'i ayrıştırır ve DOM ağacı kurar.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seçicileri ve DOM gezinmesiyle veri bulur/çıkarır.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Zararlı kullanıcı HTML'ini güvenli listeye göre temizler (XSS önleme).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öğelerini, metni ve nitelikleri düzenler/üretir.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09160" y="1481328"/>
            <a:ext cx="3977640" cy="2395728"/>
          </a:xfrm>
          <a:prstGeom prst="roundRect">
            <a:avLst>
              <a:gd name="adj" fmla="val 305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83480" y="162763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Nerede kullanılır?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83480" y="2029968"/>
            <a:ext cx="347472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kazıma (web scraping) ve veriden bilgi çıkarma.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 girdisi HTML'inin güvenli biçimde temizlenmesi.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içerik düzenleme ve dönüştürme.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ve otomasyon araçlarında HTML işleme.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06908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11202E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4151376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Örnek:  </a:t>
            </a:r>
            <a:pPr indent="0" marL="0">
              <a:buNone/>
            </a:pPr>
            <a:r>
              <a:rPr lang="en-US" sz="1200" dirty="0">
                <a:solidFill>
                  <a:srgbClr val="DDE6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 doc = Jsoup.parse(html);  Elements links = doc.select("a[href]");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864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seçildi: saf nesne yönelimli, olgun, çok sayıda sürümü olan açık kaynak Java projesi — sürüm bazlı evrim çalışmasına uygun.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16459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9260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Yöntem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874520" cy="1554480"/>
          </a:xfrm>
          <a:prstGeom prst="roundRect">
            <a:avLst>
              <a:gd name="adj" fmla="val 4706"/>
            </a:avLst>
          </a:prstGeom>
          <a:solidFill>
            <a:srgbClr val="028090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554480"/>
            <a:ext cx="1874520" cy="1554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jsoup sürümü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C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1.13.1 → 1.22.1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C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 kod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313432" y="1554480"/>
            <a:ext cx="448056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6B7B"/>
                </a:solidFill>
              </a:rPr>
              <a:t>→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743200" y="1554480"/>
            <a:ext cx="1874520" cy="1554480"/>
          </a:xfrm>
          <a:prstGeom prst="roundRect">
            <a:avLst>
              <a:gd name="adj" fmla="val 4706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0" y="1554480"/>
            <a:ext cx="1874520" cy="1554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CK aracı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C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 düzeyi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C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tasarım metrikleri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99432" y="1554480"/>
            <a:ext cx="448056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6B7B"/>
                </a:solidFill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029200" y="1554480"/>
            <a:ext cx="1874520" cy="1554480"/>
          </a:xfrm>
          <a:prstGeom prst="roundRect">
            <a:avLst>
              <a:gd name="adj" fmla="val 4706"/>
            </a:avLst>
          </a:prstGeom>
          <a:solidFill>
            <a:srgbClr val="028090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0" y="1554480"/>
            <a:ext cx="1874520" cy="1554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QMOOD tasarım</a:t>
            </a:r>
            <a:endParaRPr lang="en-US" sz="1400" dirty="0"/>
          </a:p>
          <a:p>
            <a:pPr algn="ctr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özellikleri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C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özellik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C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(boyut, bağlaşım…)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85432" y="1554480"/>
            <a:ext cx="448056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6B7B"/>
                </a:solidFill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315200" y="1554480"/>
            <a:ext cx="1874520" cy="1554480"/>
          </a:xfrm>
          <a:prstGeom prst="roundRect">
            <a:avLst>
              <a:gd name="adj" fmla="val 4706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0" y="1554480"/>
            <a:ext cx="1874520" cy="1554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Kalite nitelikleri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C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nitelik + TQI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C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(normalize)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7033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Not: </a:t>
            </a:r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tasarım özelliğinin 7'si CK'dan doğrudan elde edildi; 4'ü (CAM, MOA, MFA, NOP) yaklaşık hesaplandı. Tüm özellikler baz sürüme (1.13.1) göre normalize edildi. Hazır kalite skoru kullanılmadı; her şey ham metrikten hesaplandı.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16459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9260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Tasarım Metrikleri: Teknik Borç Belirtileri</a:t>
            </a:r>
            <a:endParaRPr lang="en-US" sz="2600" dirty="0"/>
          </a:p>
        </p:txBody>
      </p:sp>
      <p:pic>
        <p:nvPicPr>
          <p:cNvPr id="4" name="Image 0" descr="06_teknik_borc_tr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25880"/>
            <a:ext cx="4663440" cy="3108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349240" y="12801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1.13.1 → 1.22.1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349240" y="1645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— tasarım boyutu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26680" y="16459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+19,8%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349240" y="215798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DCC — bağlaşım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726680" y="2157984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+14,7%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349240" y="26700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— karmaşıklık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726680" y="267004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+18,8%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349240" y="318211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— kohezyon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726680" y="318211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−7,7%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5349240" y="369417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 — kapsülleme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726680" y="3694176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−13,1%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5349240" y="4160520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Bağlaşım/karmaşıklık artarken kohezyon ve kapsülleme geriliyor: klasik mimari bozulma.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16459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9260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QMOOD Kalite Nitelikleri</a:t>
            </a:r>
            <a:endParaRPr lang="en-US" sz="2600" dirty="0"/>
          </a:p>
        </p:txBody>
      </p:sp>
      <p:pic>
        <p:nvPicPr>
          <p:cNvPr id="4" name="Image 0" descr="01_kalite_nitelikler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80160"/>
            <a:ext cx="5943600" cy="31912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537960" y="1371600"/>
            <a:ext cx="2194560" cy="2926080"/>
          </a:xfrm>
          <a:prstGeom prst="roundRect">
            <a:avLst>
              <a:gd name="adj" fmla="val 3333"/>
            </a:avLst>
          </a:prstGeom>
          <a:solidFill>
            <a:srgbClr val="EAF1F8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720840" y="1554480"/>
            <a:ext cx="18745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çıkanlar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İşlevsellik  +%32,6 ↑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Yeniden Kul. +%12,8 ↑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Esneklik  +%11,8 ↑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Anlaşılabilirlik  ≈ −%30 ↓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16459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9260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 Bulgu: Yükselen TQI Yanıltıcı</a:t>
            </a:r>
            <a:endParaRPr lang="en-US" sz="2600" dirty="0"/>
          </a:p>
        </p:txBody>
      </p:sp>
      <p:pic>
        <p:nvPicPr>
          <p:cNvPr id="4" name="Image 0" descr="02_tq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71600"/>
            <a:ext cx="5120640" cy="2377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11480" y="3840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TQI: 4,01 → 4,36  (+%8,7)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760720" y="1371600"/>
            <a:ext cx="2971800" cy="3108960"/>
          </a:xfrm>
          <a:prstGeom prst="roundRect">
            <a:avLst>
              <a:gd name="adj" fmla="val 246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989320" y="1554480"/>
            <a:ext cx="2514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TQI yükseliyor — ama neden?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Artış, boyut bağımlı terimlerden (DSC, CIS) kaynaklanıyor; kod tabanı büyüdükçe bu nitelikler mekanik olarak yükseliyor.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bakım göstergeleri (kapsülleme, kohezyon, anlaşılabilirlik) ise geriliyor.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Teknik borç birikimi; en yoğun 1.17.1–1.20.1.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64592" cy="16459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9260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Destekli Değerlendirme (4 Model)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56235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868680"/>
                <a:gridCol w="868680"/>
                <a:gridCol w="822960"/>
                <a:gridCol w="868680"/>
                <a:gridCol w="8686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Nitelik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QMOOD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DeepSeek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4.6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Yeniden Kul.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Artıyor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Azalıyor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Azalıyor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Azalıyor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Artıyor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Esneklik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Artıyor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Hafif az.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A6B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Durağan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Azalıyor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Hafif art.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Anlaşılabilirlik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Azalıyor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Azalıyor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Azalıyor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Azalıyor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Azalıyor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İşlevsellik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Artıyor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Artıyor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Artıyor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Artıyor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Artıyor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Genişletileb.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A6B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Durağan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Hafif art.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Artıyor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A6B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Kararsız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A6B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Durağan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Etkinlik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Hafif art.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A6B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Durağan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Azalıyor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Azalıyor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A6B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Durağan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217920" y="1325880"/>
            <a:ext cx="2514600" cy="3200400"/>
          </a:xfrm>
          <a:prstGeom prst="roundRect">
            <a:avLst>
              <a:gd name="adj" fmla="val 2909"/>
            </a:avLst>
          </a:prstGeom>
          <a:solidFill>
            <a:srgbClr val="EAF1F8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400800" y="1481328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Gözlemler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Ortak: anlaşılabilirlik ↓, işlevsellik ↑.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Ayrışma: Yeniden Kul. — QMOOD ve Sonnet “artıyor”, diğerleri “azalıyor”.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 QMOOD'u sayısal uyguladı; diğerleri sezgisel yorumladı.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yalnızca 4 sürüm okudu; DeepSeek MOA'yı CAM ile karıştırdı.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4023360"/>
            <a:ext cx="1463040" cy="146304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Sonuç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137160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jsoup işlevsel olarak büyürken iç tasarım kalitesi geriledi; teknik borç en yoğun 1.17.1–1.20.1 arasında birikti.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377440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33172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QMOOD boyut duyarlıdır: TQI'deki artış gerçek bir bakım iyileşmesi değil, boyutsal büyümenin yan ürünüdür.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329184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LLM'ler QMOOD'u tamamladı: sezgisel modeller gerçek bozulmayı yakaladı, formülü sayısal uygulayan model QMOOD ile örtüştü.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44805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Teşekkürler — Sorular?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QMOOD jsoup Sunum</dc:title>
  <dc:subject>PptxGenJS Presentation</dc:subject>
  <dc:creator>QMOOD jsoup</dc:creator>
  <cp:lastModifiedBy>QMOOD jsoup</cp:lastModifiedBy>
  <cp:revision>1</cp:revision>
  <dcterms:created xsi:type="dcterms:W3CDTF">2026-06-18T11:42:10Z</dcterms:created>
  <dcterms:modified xsi:type="dcterms:W3CDTF">2026-06-18T11:42:10Z</dcterms:modified>
</cp:coreProperties>
</file>